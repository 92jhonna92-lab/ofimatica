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79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67256-224F-48EC-8CEC-1D4F7F8CECBC}" type="datetimeFigureOut">
              <a:rPr lang="es-BO" smtClean="0"/>
              <a:t>28/5/2026</a:t>
            </a:fld>
            <a:endParaRPr lang="es-B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F5009-34FA-4C91-A4F1-8A7410B45CF1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223057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Recordar al cliente que el tiempo de respuesta para soporte critico en servidores en menor de 2 horas</a:t>
            </a:r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F5009-34FA-4C91-A4F1-8A7410B45CF1}" type="slidenum">
              <a:rPr lang="es-BO" smtClean="0"/>
              <a:t>6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62539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2450F-2CCB-4193-BA3B-5C8E682B3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5717C4-89B3-447F-9493-BE65978BB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6E6A2C-CE94-40EB-A167-C8651050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789D-ECA0-472D-B17A-5CD51070645A}" type="datetimeFigureOut">
              <a:rPr lang="es-BO" smtClean="0"/>
              <a:t>28/5/2026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FD5F9A-7421-4F82-B636-6B925DC2E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FECF71-6382-425F-9269-05DD3B38E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1CE2-D263-4B40-9CF6-0BFE0B6B4F1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679637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1C1CC-27DC-4494-AFA7-9E672116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58A326-FFA3-4742-A0F1-2823C6A8C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5ABC65-FFD5-4BBF-9AE2-F898AAA28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789D-ECA0-472D-B17A-5CD51070645A}" type="datetimeFigureOut">
              <a:rPr lang="es-BO" smtClean="0"/>
              <a:t>28/5/2026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5680B4-5491-4E45-BECA-3145144D8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DA0B85-5240-411E-9FD5-11FA0D247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1CE2-D263-4B40-9CF6-0BFE0B6B4F1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56228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AC23D2-9A9E-42C0-A7B4-04A1FBCE9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8DB3C7-9CF4-4355-AFED-B70D51C17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19EA8E-A08C-4A41-A1D9-3846FE51E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789D-ECA0-472D-B17A-5CD51070645A}" type="datetimeFigureOut">
              <a:rPr lang="es-BO" smtClean="0"/>
              <a:t>28/5/2026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021DC0-62AA-465E-A860-F598E1BC5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135971-B627-4275-B4A8-6F4AA5E9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1CE2-D263-4B40-9CF6-0BFE0B6B4F1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58196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B63A7-DAA1-4731-8D4D-3C543D772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7B4C44-206F-4744-BE17-54429D9B5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361D09-E356-4D18-9362-1E9553DBD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598C96-1FEC-4EB6-A249-4FFAB28E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789D-ECA0-472D-B17A-5CD51070645A}" type="datetimeFigureOut">
              <a:rPr lang="es-BO" smtClean="0"/>
              <a:t>28/5/2026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043AF1-37AB-49BE-A6A7-103D37182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8ADDEE-984E-41B3-AA6A-3915F383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1CE2-D263-4B40-9CF6-0BFE0B6B4F1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539919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802A7-5BA3-4BA2-B138-E08097504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053680-9037-4E1D-9227-191DA76A0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A3F8C3-CF4D-47C2-BB27-767D79F30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91B990-773D-4F89-8344-73BFE32E5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DEBB533-6C7A-45B5-85A5-2C50C991C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C1BD885-03B3-40B0-8A3E-F6D140B73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789D-ECA0-472D-B17A-5CD51070645A}" type="datetimeFigureOut">
              <a:rPr lang="es-BO" smtClean="0"/>
              <a:t>28/5/2026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690348D-428F-439D-A95B-B6E30E423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818BF91-37FD-4803-B85F-1FDA2C70D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1CE2-D263-4B40-9CF6-0BFE0B6B4F1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6119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4EFC9-2D2B-4A69-999C-65DBC37A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5BE43A-06B5-474F-9A49-1BA67520D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789D-ECA0-472D-B17A-5CD51070645A}" type="datetimeFigureOut">
              <a:rPr lang="es-BO" smtClean="0"/>
              <a:t>28/5/2026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7066D97-40AC-4728-A374-C12EC3C0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C2C19CF-BE1C-49FA-813E-C04062461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1CE2-D263-4B40-9CF6-0BFE0B6B4F1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6509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CFBEC90-23C3-4209-834C-1C712434B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789D-ECA0-472D-B17A-5CD51070645A}" type="datetimeFigureOut">
              <a:rPr lang="es-BO" smtClean="0"/>
              <a:t>28/5/2026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4B0C294-C753-41A0-B2AE-D6357319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DC6BFE-E467-40DA-90E8-F6667D8E1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1CE2-D263-4B40-9CF6-0BFE0B6B4F1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26464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B3203-E082-4E33-BF3A-7916B409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80163B-3EC2-46F9-97A3-7B9CAE0E4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CA4DF8-11C9-4B0D-BCAC-EC706BE9B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672F49-BC54-4DBA-8FB5-2DC1AEFAE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789D-ECA0-472D-B17A-5CD51070645A}" type="datetimeFigureOut">
              <a:rPr lang="es-BO" smtClean="0"/>
              <a:t>28/5/2026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9C994C-11A2-45DE-80DD-CF4C0C7D2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BBE2BA-8C64-4834-9D40-113B3D86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1CE2-D263-4B40-9CF6-0BFE0B6B4F1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59634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687CE-F8A7-42CD-AB44-9E9959BB5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9E0FE6B-039D-41C5-8295-3E78A18A6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83592C-B3BC-4BF5-96DA-EDE80E5B4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96A466-C962-4212-8325-7BDF1EA4E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789D-ECA0-472D-B17A-5CD51070645A}" type="datetimeFigureOut">
              <a:rPr lang="es-BO" smtClean="0"/>
              <a:t>28/5/2026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BB5760-2B19-4CDB-B07C-47DE00F6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CC8B25-3670-4059-ACA4-121678B0C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1CE2-D263-4B40-9CF6-0BFE0B6B4F1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501982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01885-C7A2-42AB-A1B1-9AB6BEBC2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86B911-9FB4-4F73-A4E5-7BBEFEFF5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03F47F-D8AE-4396-B6EF-3ADD664CD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789D-ECA0-472D-B17A-5CD51070645A}" type="datetimeFigureOut">
              <a:rPr lang="es-BO" smtClean="0"/>
              <a:t>28/5/2026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C0606E-6982-41A9-96FB-D961DE7F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102CB-A246-4D47-9E0A-303CE04E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1CE2-D263-4B40-9CF6-0BFE0B6B4F1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977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39C026-E194-46D6-AAD1-0EEB18647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4842E9-5068-436B-99AE-B356178BA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1F3303-372A-4B0E-AE26-43D6E8ECC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E789D-ECA0-472D-B17A-5CD51070645A}" type="datetimeFigureOut">
              <a:rPr lang="es-BO" smtClean="0"/>
              <a:t>28/5/2026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4E416F-CAC6-4FB9-ACE9-3A4DCAD8A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939B5A-F916-41AF-8529-62B9F7305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1CE2-D263-4B40-9CF6-0BFE0B6B4F1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39006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3669F0C-2D23-473C-94F0-806F5BA3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1349DA-AB4F-4CA3-8D1B-1A9703504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44F8DC-7C15-4D17-8A41-CDD9790414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E789D-ECA0-472D-B17A-5CD51070645A}" type="datetimeFigureOut">
              <a:rPr lang="es-BO" smtClean="0"/>
              <a:t>28/5/2026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D4F960-A723-4F49-A451-87708EDCD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E4B37B-5303-4107-9C4D-556A21CED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D1CE2-D263-4B40-9CF6-0BFE0B6B4F1A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15147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JDelgadillo\ofimatica\excel\Si.Y.O.ContaR.sI.xlsx!Funciones%20L&#243;gicas!F8C2:F58C11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JDelgadillo\ofimatica\excel\Si.Y.O.ContaR.sI.xlsx!Funciones%20L&#243;gicas!F8C2:F58C13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JDelgadillo\ofimatica\excel\Si.Y.O.ContaR.sI.xlsx!Funciones%20L&#243;gicas!F8C14:F16C15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92932-5837-4359-892F-294D6AB50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67458"/>
          </a:xfrm>
          <a:solidFill>
            <a:schemeClr val="tx1">
              <a:lumMod val="75000"/>
              <a:lumOff val="25000"/>
            </a:schemeClr>
          </a:solidFill>
          <a:ln>
            <a:solidFill>
              <a:srgbClr val="0070C0"/>
            </a:solidFill>
          </a:ln>
        </p:spPr>
        <p:txBody>
          <a:bodyPr>
            <a:normAutofit fontScale="90000"/>
          </a:bodyPr>
          <a:lstStyle/>
          <a:p>
            <a:r>
              <a:rPr lang="es-MX" dirty="0">
                <a:ln>
                  <a:solidFill>
                    <a:srgbClr val="0070C0"/>
                  </a:solidFill>
                </a:ln>
                <a:solidFill>
                  <a:srgbClr val="00B0F0"/>
                </a:solidFill>
              </a:rPr>
              <a:t>TECH-SOLUTIONS</a:t>
            </a:r>
            <a:br>
              <a:rPr lang="es-MX" dirty="0">
                <a:ln>
                  <a:solidFill>
                    <a:srgbClr val="0070C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s-MX" dirty="0">
                <a:ln>
                  <a:solidFill>
                    <a:srgbClr val="0070C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s-MX" sz="2800" dirty="0">
                <a:ln>
                  <a:solidFill>
                    <a:srgbClr val="0070C0"/>
                  </a:solidFill>
                </a:ln>
                <a:solidFill>
                  <a:schemeClr val="bg1"/>
                </a:solidFill>
              </a:rPr>
              <a:t>AUDITORIA INFORMATICA Y AUTOMATIZACION DE DATOS</a:t>
            </a:r>
            <a:br>
              <a:rPr lang="es-MX" dirty="0">
                <a:ln>
                  <a:solidFill>
                    <a:srgbClr val="0070C0"/>
                  </a:solidFill>
                </a:ln>
                <a:solidFill>
                  <a:schemeClr val="bg1"/>
                </a:solidFill>
              </a:rPr>
            </a:br>
            <a:endParaRPr lang="es-BO" dirty="0">
              <a:ln>
                <a:solidFill>
                  <a:srgbClr val="0070C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A3EBDC2B-57E4-419C-8C94-65EF840290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>
                <a:solidFill>
                  <a:schemeClr val="bg1"/>
                </a:solidFill>
              </a:rPr>
              <a:t>Control Presupuestario con Lógica Condicional</a:t>
            </a:r>
            <a:endParaRPr lang="es-B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151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92932-5837-4359-892F-294D6AB50A5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75000"/>
              <a:lumOff val="25000"/>
            </a:schemeClr>
          </a:solidFill>
          <a:ln>
            <a:solidFill>
              <a:srgbClr val="00B0F0"/>
            </a:solidFill>
          </a:ln>
        </p:spPr>
        <p:txBody>
          <a:bodyPr>
            <a:normAutofit fontScale="90000"/>
          </a:bodyPr>
          <a:lstStyle/>
          <a:p>
            <a:br>
              <a:rPr lang="es-MX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s-MX" dirty="0">
                <a:solidFill>
                  <a:srgbClr val="00B0F0"/>
                </a:solidFill>
              </a:rPr>
              <a:t>Nuestras Especialidades</a:t>
            </a:r>
            <a:br>
              <a:rPr lang="es-MX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endParaRPr lang="es-BO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42F8B7-FBF5-489B-88AB-5967073CA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MX" dirty="0">
                <a:solidFill>
                  <a:schemeClr val="bg1"/>
                </a:solidFill>
              </a:rPr>
              <a:t>&gt; Cableado Estructurado de Redes</a:t>
            </a:r>
          </a:p>
          <a:p>
            <a:r>
              <a:rPr lang="es-MX" dirty="0">
                <a:solidFill>
                  <a:schemeClr val="bg1"/>
                </a:solidFill>
              </a:rPr>
              <a:t>&gt; Mantenimiento Preventivo y Correctivo</a:t>
            </a:r>
          </a:p>
          <a:p>
            <a:r>
              <a:rPr lang="es-MX" dirty="0">
                <a:solidFill>
                  <a:schemeClr val="bg1"/>
                </a:solidFill>
              </a:rPr>
              <a:t>&gt; Desarrollo de Sistemas Web</a:t>
            </a:r>
            <a:endParaRPr lang="es-BO" dirty="0">
              <a:solidFill>
                <a:schemeClr val="bg1"/>
              </a:solidFill>
            </a:endParaRP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09899B31-FB88-4982-8E81-08E3F4575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372309"/>
            <a:ext cx="6172200" cy="4103856"/>
          </a:xfrm>
        </p:spPr>
      </p:pic>
    </p:spTree>
    <p:extLst>
      <p:ext uri="{BB962C8B-B14F-4D97-AF65-F5344CB8AC3E}">
        <p14:creationId xmlns:p14="http://schemas.microsoft.com/office/powerpoint/2010/main" val="3230617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530470C-0311-42F2-9EDA-9CE8044C0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00B0F0"/>
                </a:solidFill>
              </a:rPr>
              <a:t>Formula Función SI</a:t>
            </a:r>
            <a:endParaRPr lang="es-BO" dirty="0">
              <a:solidFill>
                <a:srgbClr val="00B0F0"/>
              </a:solidFill>
            </a:endParaRPr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B80E5643-19D2-4327-9CDE-09025761C3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45584"/>
              </p:ext>
            </p:extLst>
          </p:nvPr>
        </p:nvGraphicFramePr>
        <p:xfrm>
          <a:off x="1310054" y="1301262"/>
          <a:ext cx="9768254" cy="519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Worksheet" r:id="rId3" imgW="13487313" imgH="9239186" progId="Excel.Sheet.12">
                  <p:link updateAutomatic="1"/>
                </p:oleObj>
              </mc:Choice>
              <mc:Fallback>
                <p:oleObj name="Worksheet" r:id="rId3" imgW="13487313" imgH="923918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10054" y="1301262"/>
                        <a:ext cx="9768254" cy="5191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39511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92932-5837-4359-892F-294D6AB50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6769" y="448409"/>
            <a:ext cx="9261231" cy="914399"/>
          </a:xfrm>
          <a:solidFill>
            <a:schemeClr val="tx1">
              <a:lumMod val="75000"/>
              <a:lumOff val="25000"/>
            </a:schemeClr>
          </a:solidFill>
          <a:ln>
            <a:solidFill>
              <a:srgbClr val="00B0F0"/>
            </a:solidFill>
          </a:ln>
        </p:spPr>
        <p:txBody>
          <a:bodyPr>
            <a:normAutofit fontScale="90000"/>
          </a:bodyPr>
          <a:lstStyle/>
          <a:p>
            <a:br>
              <a:rPr lang="es-MX" dirty="0">
                <a:solidFill>
                  <a:srgbClr val="00B0F0"/>
                </a:solidFill>
              </a:rPr>
            </a:br>
            <a:r>
              <a:rPr lang="es-MX" dirty="0">
                <a:solidFill>
                  <a:srgbClr val="00B0F0"/>
                </a:solidFill>
              </a:rPr>
              <a:t>Función SI(Y-0)</a:t>
            </a:r>
            <a:endParaRPr lang="es-BO" dirty="0">
              <a:solidFill>
                <a:schemeClr val="bg1"/>
              </a:solidFill>
            </a:endParaRP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271BDD3E-F8EC-4422-B423-0AB8E4DCDF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219606"/>
              </p:ext>
            </p:extLst>
          </p:nvPr>
        </p:nvGraphicFramePr>
        <p:xfrm>
          <a:off x="1246188" y="1449388"/>
          <a:ext cx="9702800" cy="511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Worksheet" r:id="rId3" imgW="16268686" imgH="9239186" progId="Excel.Sheet.12">
                  <p:link updateAutomatic="1"/>
                </p:oleObj>
              </mc:Choice>
              <mc:Fallback>
                <p:oleObj name="Worksheet" r:id="rId3" imgW="16268686" imgH="923918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46188" y="1449388"/>
                        <a:ext cx="9702800" cy="5110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198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E8AE1-63B3-4E2B-B03A-1CE6FB66D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8483"/>
          </a:xfrm>
        </p:spPr>
        <p:txBody>
          <a:bodyPr/>
          <a:lstStyle/>
          <a:p>
            <a:pPr algn="ctr"/>
            <a:r>
              <a:rPr lang="es-MX" dirty="0">
                <a:solidFill>
                  <a:srgbClr val="00B0F0"/>
                </a:solidFill>
              </a:rPr>
              <a:t>RESUMEN DE INVERSION POR CATEGORIA</a:t>
            </a:r>
            <a:endParaRPr lang="es-BO" dirty="0">
              <a:solidFill>
                <a:srgbClr val="00B0F0"/>
              </a:solidFill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9F50C6F1-5030-4EF7-9BD7-8DD23DC20F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714565"/>
              </p:ext>
            </p:extLst>
          </p:nvPr>
        </p:nvGraphicFramePr>
        <p:xfrm>
          <a:off x="3965510" y="1651518"/>
          <a:ext cx="5029200" cy="3368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Worksheet" r:id="rId3" imgW="2447885" imgH="1638274" progId="Excel.Sheet.12">
                  <p:link updateAutomatic="1"/>
                </p:oleObj>
              </mc:Choice>
              <mc:Fallback>
                <p:oleObj name="Worksheet" r:id="rId3" imgW="2447885" imgH="1638274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65510" y="1651518"/>
                        <a:ext cx="5029200" cy="3368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8748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92932-5837-4359-892F-294D6AB50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9246" y="416471"/>
            <a:ext cx="9144000" cy="2367458"/>
          </a:xfrm>
          <a:solidFill>
            <a:schemeClr val="tx1">
              <a:lumMod val="75000"/>
              <a:lumOff val="25000"/>
            </a:schemeClr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br>
              <a:rPr lang="es-MX" dirty="0">
                <a:solidFill>
                  <a:schemeClr val="bg1"/>
                </a:solidFill>
              </a:rPr>
            </a:br>
            <a:r>
              <a:rPr lang="es-MX" dirty="0">
                <a:solidFill>
                  <a:srgbClr val="00B0F0"/>
                </a:solidFill>
              </a:rPr>
              <a:t>Atención al cliente</a:t>
            </a:r>
            <a:br>
              <a:rPr lang="es-MX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s-MX" sz="2000" dirty="0">
                <a:solidFill>
                  <a:schemeClr val="bg1"/>
                </a:solidFill>
              </a:rPr>
              <a:t>Escanea el código QR para unir un ticket de soporte técnico en nuestra plataforma</a:t>
            </a:r>
            <a:endParaRPr lang="es-BO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E7DB93-7811-40F2-9D83-9041F05A5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148" y="3099691"/>
            <a:ext cx="2509703" cy="250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793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F686C4E-27BA-466D-9898-57F26AD73213}">
  <we:reference id="wa104379997" version="3.0.0.0" store="es-ES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16EB7C4-378D-400E-AFCC-FB1FF686B531}">
  <we:reference id="wa104051163" version="1.2.0.3" store="es-E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86</Words>
  <Application>Microsoft Office PowerPoint</Application>
  <PresentationFormat>Panorámica</PresentationFormat>
  <Paragraphs>12</Paragraphs>
  <Slides>6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Vínculos</vt:lpstr>
      </vt:variant>
      <vt:variant>
        <vt:i4>3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D:\JDelgadillo\ofimatica\excel\Si.Y.O.ContaR.sI.xlsx!Funciones Lógicas!F8C2:F58C11</vt:lpstr>
      <vt:lpstr>D:\JDelgadillo\ofimatica\excel\Si.Y.O.ContaR.sI.xlsx!Funciones Lógicas!F8C2:F58C13</vt:lpstr>
      <vt:lpstr>D:\JDelgadillo\ofimatica\excel\Si.Y.O.ContaR.sI.xlsx!Funciones Lógicas!F8C14:F16C15</vt:lpstr>
      <vt:lpstr>TECH-SOLUTIONS  AUDITORIA INFORMATICA Y AUTOMATIZACION DE DATOS </vt:lpstr>
      <vt:lpstr> Nuestras Especialidades </vt:lpstr>
      <vt:lpstr>Formula Función SI</vt:lpstr>
      <vt:lpstr> Función SI(Y-0)</vt:lpstr>
      <vt:lpstr>RESUMEN DE INVERSION POR CATEGORIA</vt:lpstr>
      <vt:lpstr> Atención al cliente Escanea el código QR para unir un ticket de soporte técnico en nuestra plataforma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TECH-SOLUTIONS – INFRAESTRUCTURA Y SOFWARE</dc:title>
  <dc:creator>LABA1-PC18</dc:creator>
  <cp:lastModifiedBy>LABA1-PC17</cp:lastModifiedBy>
  <cp:revision>16</cp:revision>
  <dcterms:created xsi:type="dcterms:W3CDTF">2026-05-21T12:05:04Z</dcterms:created>
  <dcterms:modified xsi:type="dcterms:W3CDTF">2026-05-28T13:15:21Z</dcterms:modified>
</cp:coreProperties>
</file>